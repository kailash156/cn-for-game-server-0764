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3" r:id="rId4"/>
    <p:sldId id="258" r:id="rId5"/>
    <p:sldId id="275" r:id="rId6"/>
    <p:sldId id="279" r:id="rId7"/>
    <p:sldId id="282" r:id="rId8"/>
    <p:sldId id="283" r:id="rId9"/>
    <p:sldId id="281" r:id="rId10"/>
    <p:sldId id="286" r:id="rId11"/>
    <p:sldId id="284" r:id="rId12"/>
    <p:sldId id="277" r:id="rId13"/>
    <p:sldId id="276" r:id="rId14"/>
    <p:sldId id="278" r:id="rId15"/>
    <p:sldId id="280" r:id="rId16"/>
    <p:sldId id="285" r:id="rId17"/>
  </p:sldIdLst>
  <p:sldSz cx="12192000" cy="6858000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5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8:36:05.46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8:36:08.71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343 267 24575,'34'-1'0,"36"2"0,-66-1 0,1 0 0,-1 1 0,0 0 0,0 0 0,1 0 0,-1 1 0,0-1 0,0 1 0,0 0 0,-1 0 0,1 0 0,5 5 0,-7-5 0,-1 0 0,1 1 0,0-1 0,-1 0 0,0 1 0,0 0 0,0-1 0,0 1 0,0-1 0,0 1 0,-1 0 0,1 0 0,-1-1 0,0 1 0,0 0 0,0 0 0,0 0 0,0-1 0,-1 1 0,1 0 0,-1 0 0,0-1 0,1 1 0,-1-1 0,-2 5 0,0 0 0,0-1 0,-1 1 0,1 0 0,-1-1 0,-1 0 0,1 0 0,-1 0 0,-7 7 0,8-10 0,0 1 0,-1-1 0,1 0 0,-1-1 0,0 1 0,0-1 0,0 1 0,0-2 0,-1 1 0,1 0 0,0-1 0,-1 0 0,1-1 0,-1 1 0,1-1 0,-1 0 0,-6-1 0,9 1 0,0-1 0,-1 1 0,1-1 0,0 0 0,0 0 0,0-1 0,0 1 0,0 0 0,1-1 0,-1 0 0,0 0 0,1 0 0,-1 0 0,1 0 0,0 0 0,0-1 0,0 1 0,0-1 0,0 1 0,0-1 0,0 0 0,1 0 0,0 0 0,-1 0 0,1 0 0,0 0 0,1 0 0,-1 0 0,0 0 0,1-4 0,-1-1 0,1-1 0,1 0 0,-1 1 0,2-1 0,-1 0 0,1 1 0,0-1 0,1 1 0,6-16 0,6-5 0,21-34 0,-34 60 0,11-18 0,31-37 0,-39 52 0,1 0 0,0 0 0,0 0 0,0 1 0,1 0 0,0 0 0,0 1 0,0-1 0,11-3 0,-17 7 0,0 1 0,1-1 0,-1 1 0,0-1 0,1 1 0,-1 0 0,0-1 0,1 1 0,-1 0 0,0 0 0,1 0 0,-1 0 0,0 0 0,1 0 0,-1 1 0,0-1 0,1 0 0,-1 1 0,0-1 0,3 2 0,-3-1 0,-1 0 0,1 0 0,0-1 0,-1 1 0,1 0 0,-1 0 0,1 0 0,-1 0 0,0 0 0,1 0 0,-1 0 0,0 0 0,0 0 0,0 1 0,0-1 0,0 0 0,0 0 0,0 0 0,0 0 0,0 1 0,-2 5 0,1 0 0,-1 0 0,0-1 0,-1 1 0,0-1 0,-6 11 0,3-7 0,-1 0 0,0 0 0,-1-1 0,0 0 0,0 0 0,-1 0 0,0-1 0,0-1 0,-1 0 0,0 0 0,-1-1 0,1 0 0,-1-1 0,0 0 0,-1-1 0,1 0 0,-1 0 0,0-1 0,0-1 0,-14 1 0,-35 0 0,-106-10 0,163 7 0,1 0 0,-1-1 0,1 0 0,-1 1 0,1-1 0,0 0 0,0-1 0,-1 1 0,1 0 0,0-1 0,0 0 0,0 0 0,1 0 0,-1 0 0,0 0 0,1-1 0,-1 1 0,1-1 0,0 1 0,0-1 0,-2-4 0,2 3 0,0-1 0,0 0 0,1 0 0,-1 0 0,1 0 0,1 0 0,-1 0 0,1 0 0,-1 0 0,2 0 0,-1-1 0,0 1 0,2-5 0,0 1 0,0 0 0,0 1 0,1 0 0,0-1 0,0 1 0,1 0 0,0 1 0,0-1 0,1 1 0,0 0 0,1 0 0,-1 0 0,1 1 0,0-1 0,1 2 0,13-11 0,-15 14-62,-1-1 0,1 1 0,0 1 0,0-1 0,1 0 0,-1 1 0,0 0 0,0 1 0,1-1 0,-1 1 0,0 0 0,1 0-1,-1 0 1,0 1 0,1 0 0,-1 0 0,0 0 0,0 1 0,0 0 0,0 0 0,9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64B8A-7572-46E8-B267-7C8DB8372971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0D8F1-87CA-43CA-B3D8-59F03FDC0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3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0D8F1-87CA-43CA-B3D8-59F03FDC09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05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0D8F1-87CA-43CA-B3D8-59F03FDC09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4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2C65-8F64-19E8-F031-1736FBEB3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18B97-FB01-FCA3-AA11-306560A2A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3E34C-33CB-B875-719A-E3F28BB0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76A45-4242-4473-6B61-58EAEEDB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0B030-C13D-855C-AA63-7FF6744F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090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AB01-A274-DB33-10DF-A2AFF67C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BED5-57AE-2AFC-0B26-BD1F0C203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FF135-664E-4BDA-1505-B7F3A259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4622-A20F-E258-DDF6-1323D6FE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82D9D-05F9-D0A9-1E29-B01BA4CA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94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65E1-90E9-3B75-5E79-002141E3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CF16E-1E30-F3E4-B606-9EAC924AF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A0B04-AE15-AE60-FFEA-A552777E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F2BEB-BD6B-489B-978D-4FBE708D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CF53A-B283-7BE5-34E4-F85C55E7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5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B719-A47D-D55D-6076-FDABD470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19F66-7DBA-E39F-00B4-5ACB8A561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13ED6-0E61-6D25-1514-FC968BB3B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6F08B-0A5C-B8AC-9CCD-23788462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FA41D-847C-51C4-650C-602F5CEE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56A83-9CB6-D273-C717-7EFEF0B0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835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4711-3C80-2D82-64D5-4E95A6BD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7A26D-DF82-60EE-D55F-1C1CE389F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F18FD-786C-8187-927D-C998DBCB1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B9F6FE-68F0-E645-70C0-8688899AD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B481A-F371-C6AD-66AE-ADA29F8C3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D81E1-FF70-B907-8F58-AB043416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0A320-DD0A-E64B-4C7E-7860B7EE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246C5-C52A-E4AE-68E0-F23E1B28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48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437C-A654-1506-A200-C15A805C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0FEC8-EB76-5C75-4A5B-CE62E535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EBCA9-3425-5311-3AFC-80F834B3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36132-A5C7-F973-4CF0-34E9E274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1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43FB3-153F-34B0-A4F1-031FE166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57EDA-622A-7E41-7AFC-51ADE277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BF962-8FE8-FB4B-875D-BD656331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18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AA49-19F2-7188-6072-53D3D66E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79916-5388-7B97-88D0-097DADA48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2E484-FB5A-F9AE-6D05-BF7402157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E1BAD-8E48-2B59-DA65-33183FF3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9A07B-FD0A-7192-24E8-77D6C1E1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FD2EF-BA7E-75F9-B757-AA271E99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53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1442-0AF0-FDD7-53DA-81B211A9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3D526-B423-1131-50BA-24750B1EC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925F8-44F8-169F-23E2-13721F9AE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5B08E-6610-FE84-FC1C-6912DFFC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1AF26-A90F-C65B-4730-31801122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5B260-5EDC-B39F-85D6-6C93E7F7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D2AE-F5B5-1028-7D6B-326C2AA57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B5392-C3FD-8441-94E0-F880CF080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4A565-1D73-B2C0-24F5-E084F13F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C264E-4DF8-9CE3-9B80-7344E5C4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FB425-C646-6106-3572-D1977DC9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7FA5C-AB01-F50F-9846-26C4E00D8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9BF2F-6180-38BA-B9C1-C4796F9E5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664B4-D206-A09B-388F-95C4AE6B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F5845-3266-4355-E389-8F4B5BC0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13689-EB95-85FB-222D-07097E18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44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ACB29-9492-2F95-A5EA-F2F08D66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6C3E0-441A-25C6-7ABB-5E6AE4553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72B3A-C395-5485-EA3B-CF9776FA3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C656A-40E2-4850-83B9-2E6F3CBAC75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294BD-3CA1-2DF4-D659-6616F72D5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38277-7518-26DC-ECF7-97123989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7A831-5002-474D-9A1E-8200EE370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87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1.jpe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9A220F-E711-8597-5921-880523A12BFC}"/>
              </a:ext>
            </a:extLst>
          </p:cNvPr>
          <p:cNvSpPr/>
          <p:nvPr/>
        </p:nvSpPr>
        <p:spPr>
          <a:xfrm>
            <a:off x="1855806" y="2171099"/>
            <a:ext cx="8715737" cy="11343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767C1-E1AC-1B77-BCBD-D49BD5D9A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6972" y="2219740"/>
            <a:ext cx="8013404" cy="139286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8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DESIGN, SIMULATION, AND ANALYSIS OF IPV6 ADDRESSING AND SUBNETTING SCHEMES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C5E98F-A3C6-8C88-7D95-17327B012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321" y="65696"/>
            <a:ext cx="1004665" cy="96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732D478-4729-F00C-3D17-C9124274B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0"/>
            <a:ext cx="941518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F6B215-E340-6FE1-F46E-4698BC5A37A5}"/>
              </a:ext>
            </a:extLst>
          </p:cNvPr>
          <p:cNvSpPr txBox="1"/>
          <p:nvPr/>
        </p:nvSpPr>
        <p:spPr>
          <a:xfrm>
            <a:off x="-537999" y="3941827"/>
            <a:ext cx="675167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   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A Kailash Venkata Sai[192525069]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R Sanjay Krishnan[192521055]</a:t>
            </a:r>
          </a:p>
          <a:p>
            <a:r>
              <a:rPr lang="en-US" sz="16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M Sohail Khan [192525046]</a:t>
            </a:r>
          </a:p>
          <a:p>
            <a:endParaRPr lang="en-US" sz="16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D90DA-3C4B-83D4-C365-70D84084E4B4}"/>
              </a:ext>
            </a:extLst>
          </p:cNvPr>
          <p:cNvSpPr txBox="1"/>
          <p:nvPr/>
        </p:nvSpPr>
        <p:spPr>
          <a:xfrm>
            <a:off x="1425075" y="546673"/>
            <a:ext cx="934184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b="1" dirty="0">
                <a:latin typeface="Times New Roman"/>
                <a:cs typeface="Times New Roman"/>
              </a:rPr>
              <a:t>CSA0764 - COMPUTER NETWORKS FOR A GAME SERVER</a:t>
            </a:r>
            <a:endParaRPr lang="en-US" sz="2000" dirty="0">
              <a:latin typeface="Times New Roman"/>
              <a:cs typeface="Times New Roman"/>
            </a:endParaRPr>
          </a:p>
          <a:p>
            <a:pPr algn="l"/>
            <a:endParaRPr lang="en-US" sz="2000" b="1" dirty="0">
              <a:effectLst/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7418D-3288-279E-651B-435DF7ABE0FA}"/>
              </a:ext>
            </a:extLst>
          </p:cNvPr>
          <p:cNvSpPr txBox="1"/>
          <p:nvPr/>
        </p:nvSpPr>
        <p:spPr>
          <a:xfrm>
            <a:off x="5475766" y="4080326"/>
            <a:ext cx="47970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Guided By :</a:t>
            </a:r>
          </a:p>
          <a:p>
            <a:pPr algn="l"/>
            <a:r>
              <a:rPr lang="en-US" sz="1600" b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Dr Senthil K</a:t>
            </a:r>
          </a:p>
          <a:p>
            <a:pPr algn="l"/>
            <a:r>
              <a:rPr lang="en-US" sz="1600" b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Dr Rajaram P</a:t>
            </a:r>
          </a:p>
        </p:txBody>
      </p:sp>
    </p:spTree>
    <p:extLst>
      <p:ext uri="{BB962C8B-B14F-4D97-AF65-F5344CB8AC3E}">
        <p14:creationId xmlns:p14="http://schemas.microsoft.com/office/powerpoint/2010/main" val="544058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CED5E-89C8-2A13-1E22-5CEEAFB85C94}"/>
              </a:ext>
            </a:extLst>
          </p:cNvPr>
          <p:cNvSpPr/>
          <p:nvPr/>
        </p:nvSpPr>
        <p:spPr>
          <a:xfrm>
            <a:off x="1542030" y="1620044"/>
            <a:ext cx="8909774" cy="132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designs an IPv6 addressing and subnetting scheme for modern networks.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IPv6 network is simulated to check connectivity and routing.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and scalability of the IPv6 design are analyzed.</a:t>
            </a:r>
          </a:p>
          <a:p>
            <a:pPr algn="ctr"/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56DA5-A66B-53E0-2995-FCB23774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959" y="8394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5300"/>
            </a:b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CF72A-E54C-FD7B-912B-1CD42AAA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7800" y="4880344"/>
            <a:ext cx="45719" cy="4351338"/>
          </a:xfrm>
        </p:spPr>
        <p:txBody>
          <a:bodyPr>
            <a:normAutofit/>
          </a:bodyPr>
          <a:lstStyle/>
          <a:p>
            <a:r>
              <a:rPr lang="en-IN" sz="240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4942E9-E56C-AAC0-310A-14F2068C2C0F}"/>
              </a:ext>
            </a:extLst>
          </p:cNvPr>
          <p:cNvSpPr/>
          <p:nvPr/>
        </p:nvSpPr>
        <p:spPr>
          <a:xfrm>
            <a:off x="1542030" y="3264196"/>
            <a:ext cx="8909775" cy="16161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IPv4 address space is limited and cannot support the growing number of network devices.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Improper addressing and subnetting make large networks difficult to manage and scale.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efficient IPv6 addressing and subnetting scheme to improve network performance and future expansion.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6744F-9047-B76E-7225-3087BB5CA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1028700" cy="120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654149-FF7C-656A-C745-D63E4DE69A35}"/>
              </a:ext>
            </a:extLst>
          </p:cNvPr>
          <p:cNvSpPr/>
          <p:nvPr/>
        </p:nvSpPr>
        <p:spPr>
          <a:xfrm>
            <a:off x="1542030" y="5188688"/>
            <a:ext cx="8909774" cy="13358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efficient IPv6 addressing and subnetting scheme.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the IPv6 network and verify connectivity.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performance and scalability of the IPv6 design.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12F340-440F-3055-2806-20BBEBFBA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803" y="143124"/>
            <a:ext cx="1261183" cy="120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34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BE54F4-15D3-4F54-7F1B-A194E3FCE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1028700" cy="120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00EDD72-4D85-41BF-8E42-AAA108AC6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803" y="143124"/>
            <a:ext cx="1261183" cy="120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E2ABCA-A3CC-1048-332D-25744DAD4C60}"/>
              </a:ext>
            </a:extLst>
          </p:cNvPr>
          <p:cNvSpPr txBox="1">
            <a:spLocks/>
          </p:cNvSpPr>
          <p:nvPr/>
        </p:nvSpPr>
        <p:spPr>
          <a:xfrm>
            <a:off x="4596640" y="486087"/>
            <a:ext cx="276623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B7366F-CAA0-F9EA-FC3D-C26E2E180864}"/>
              </a:ext>
            </a:extLst>
          </p:cNvPr>
          <p:cNvSpPr/>
          <p:nvPr/>
        </p:nvSpPr>
        <p:spPr>
          <a:xfrm>
            <a:off x="765543" y="1939241"/>
            <a:ext cx="5128437" cy="40468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problem statement 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adopts IPv6 to solve the problem of limited IPv4 addresses.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IPv6 addressing and subnetting scheme is designed for easy management.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is tested through simulation to ensure efficient and scalable networking.</a:t>
            </a:r>
          </a:p>
          <a:p>
            <a:pPr>
              <a:lnSpc>
                <a:spcPct val="150000"/>
              </a:lnSpc>
            </a:pPr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978441-1C31-39B2-0377-27BAF9A924CE}"/>
              </a:ext>
            </a:extLst>
          </p:cNvPr>
          <p:cNvSpPr/>
          <p:nvPr/>
        </p:nvSpPr>
        <p:spPr>
          <a:xfrm>
            <a:off x="6248234" y="1939241"/>
            <a:ext cx="5128437" cy="40468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 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 cannot support the increasing number of network devices due to limited addresses.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addressing and subnetting make large networks hard to manage.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 addressing and subnetting are needed for scalable and efficient networks</a:t>
            </a:r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F09EDD5-E902-4081-3246-3C5126E42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94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A73A-7374-28CA-78EA-01AC4C36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/>
            </a:br>
            <a:br>
              <a:rPr lang="en-IN"/>
            </a:br>
            <a:br>
              <a:rPr lang="en-IN"/>
            </a:br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3D4480D-C392-5B99-90C7-74B08BDA6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570504"/>
              </p:ext>
            </p:extLst>
          </p:nvPr>
        </p:nvGraphicFramePr>
        <p:xfrm>
          <a:off x="419100" y="1144500"/>
          <a:ext cx="11430000" cy="54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49369925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747601511"/>
                    </a:ext>
                  </a:extLst>
                </a:gridCol>
                <a:gridCol w="3137600">
                  <a:extLst>
                    <a:ext uri="{9D8B030D-6E8A-4147-A177-3AD203B41FA5}">
                      <a16:colId xmlns:a16="http://schemas.microsoft.com/office/drawing/2014/main" val="2068016999"/>
                    </a:ext>
                  </a:extLst>
                </a:gridCol>
                <a:gridCol w="3682300">
                  <a:extLst>
                    <a:ext uri="{9D8B030D-6E8A-4147-A177-3AD203B41FA5}">
                      <a16:colId xmlns:a16="http://schemas.microsoft.com/office/drawing/2014/main" val="2622843253"/>
                    </a:ext>
                  </a:extLst>
                </a:gridCol>
              </a:tblGrid>
              <a:tr h="26643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Author &amp; Year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Methodology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Key Findings</a:t>
                      </a:r>
                      <a:endParaRPr lang="en-IN" sz="12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6474"/>
                  </a:ext>
                </a:extLst>
              </a:tr>
              <a:tr h="8869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effectLst/>
                        </a:rPr>
                        <a:t>“Evaluating IPv6 Adoption in the Internet”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effectLst/>
                        </a:rPr>
                        <a:t>Lorenzo Colitti, Steinar H. Gunderson, Erik Kline, Tiziana Refice,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2010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Measurement-based evaluation from the perspective of a large service provider (Google).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lnSpc>
                          <a:spcPts val="1875"/>
                        </a:lnSpc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</a:rPr>
                        <a:t>IPv6 native latency is comparable to IPv4</a:t>
                      </a:r>
                    </a:p>
                    <a:p>
                      <a:pPr marL="171450" lvl="0" indent="-171450">
                        <a:lnSpc>
                          <a:spcPts val="1875"/>
                        </a:lnSpc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IPv6 deployment is increasing but adoption remains uneven globally.</a:t>
                      </a:r>
                      <a:endParaRPr lang="en-US"/>
                    </a:p>
                  </a:txBody>
                  <a:tcPr marL="121920" marR="12192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13759"/>
                  </a:ext>
                </a:extLst>
              </a:tr>
              <a:tr h="8869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“Research on the Security of IPv6 Communication Based on Petri Net under IoT”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X. et al.,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2023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Designed attack/defense Petri Net models to simulate IPv6 NDP processes.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• IPv6 Neighbor Discovery Protocol (NDP) is vulnerable to reconnaissance &amp; DoS attacks in IoT.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1920" marR="12192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670458"/>
                  </a:ext>
                </a:extLst>
              </a:tr>
              <a:tr h="130219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“A Review Paper on IPv4 and IPv6: A Comprehensive Survey”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Md. Turab Hossain, Jesmin Zaman Binti, Md. Rayhan Uddin.,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2024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• Comprehensive literature survey of IPv4 vs IPv6.</a:t>
                      </a:r>
                      <a:br>
                        <a:rPr lang="en-US" sz="1200" b="0" i="0" u="none" strike="noStrike" noProof="0"/>
                      </a:br>
                      <a:r>
                        <a:rPr lang="en-US" sz="1200" b="0" i="0" u="none" strike="noStrike" noProof="0"/>
                        <a:t> • Analyzed addressing, operational challenges, and migration mechanisms across scholarly work.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lnSpc>
                          <a:spcPts val="1875"/>
                        </a:lnSpc>
                        <a:buFont typeface="Arial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IPv6 resolves IPv4 exhaustion with a vastly larger address space.</a:t>
                      </a:r>
                    </a:p>
                    <a:p>
                      <a:pPr marL="171450" lvl="0" indent="-171450">
                        <a:lnSpc>
                          <a:spcPts val="1875"/>
                        </a:lnSpc>
                        <a:buFont typeface="Arial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ptos"/>
                        </a:rPr>
                        <a:t>IPv6 adoption requires careful planning and deployment strategies.</a:t>
                      </a:r>
                      <a:endParaRPr lang="en-US" sz="1200" b="0" i="0" u="none" strike="noStrike" kern="1200" noProof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endParaRPr lang="en-US" sz="1200" b="0" i="0" u="none" strike="noStrike" kern="1200" noProof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121920" marR="12192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46764"/>
                  </a:ext>
                </a:extLst>
              </a:tr>
              <a:tr h="12065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“6Graph: A Graph-Theoretic Approach to Address Pattern Mining for Internet-wide IPv6 Scanning”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Zhu et al.,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2022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Divided IPv6 address space into regions via structural grouping.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Existing IPv6 scanning techniques have low hit rates due to poor target generation.</a:t>
                      </a:r>
                      <a:endParaRPr lang="en-US"/>
                    </a:p>
                  </a:txBody>
                  <a:tcPr marL="121920" marR="12192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106262"/>
                  </a:ext>
                </a:extLst>
              </a:tr>
              <a:tr h="799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“A New Hybrid Method of IPv6 Addressing in the Internet of Things”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Nasrin Sadat Zarif, Hamed Najafi, Mehdi Imani, Abolfazl Qiyasi Moghadam.,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2018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• Divided IPv6 address space into regions via structural grouping.</a:t>
                      </a:r>
                      <a:br>
                        <a:rPr lang="en-US" sz="1200" b="0" i="0" u="none" strike="noStrike" noProof="0"/>
                      </a:br>
                      <a:r>
                        <a:rPr lang="en-US" sz="1200" b="0" i="0" u="none" strike="noStrike" noProof="0"/>
                        <a:t> • Converted regions into graphs and applied density-based clustering.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Standard IPv6 addressing may not scale efficiently for IoT due to heterogeneous node requirements.</a:t>
                      </a:r>
                      <a:endParaRPr lang="en-US"/>
                    </a:p>
                  </a:txBody>
                  <a:tcPr marL="121920" marR="12192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76530"/>
                  </a:ext>
                </a:extLst>
              </a:tr>
            </a:tbl>
          </a:graphicData>
        </a:graphic>
      </p:graphicFrame>
      <p:pic>
        <p:nvPicPr>
          <p:cNvPr id="4" name="Picture 4">
            <a:extLst>
              <a:ext uri="{FF2B5EF4-FFF2-40B4-BE49-F238E27FC236}">
                <a16:creationId xmlns:a16="http://schemas.microsoft.com/office/drawing/2014/main" id="{1BBD6F92-6FFA-85F3-7A2F-F780B2C6D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6" y="16918"/>
            <a:ext cx="869673" cy="95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2F24914-5090-98A5-E275-E0F134A29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6012" y="42421"/>
            <a:ext cx="971173" cy="92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5C051F-6931-756B-D7AA-F8B46FE1A714}"/>
              </a:ext>
            </a:extLst>
          </p:cNvPr>
          <p:cNvSpPr txBox="1"/>
          <p:nvPr/>
        </p:nvSpPr>
        <p:spPr>
          <a:xfrm>
            <a:off x="1779930" y="140670"/>
            <a:ext cx="8476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89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34319-2279-5B8B-5220-40C43062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A22EA3-E8AC-D7A8-C850-5F5FCDB77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1028700" cy="120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D7167-E77A-2E0B-8E96-68AA43B5B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803" y="143124"/>
            <a:ext cx="1261183" cy="120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3170208-5570-0D1D-843A-F3CDD5C9229B}"/>
              </a:ext>
            </a:extLst>
          </p:cNvPr>
          <p:cNvSpPr txBox="1">
            <a:spLocks/>
          </p:cNvSpPr>
          <p:nvPr/>
        </p:nvSpPr>
        <p:spPr>
          <a:xfrm>
            <a:off x="4141296" y="367735"/>
            <a:ext cx="390940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60A894-C5F9-6511-31A1-1A118AF58420}"/>
              </a:ext>
            </a:extLst>
          </p:cNvPr>
          <p:cNvSpPr/>
          <p:nvPr/>
        </p:nvSpPr>
        <p:spPr>
          <a:xfrm>
            <a:off x="1363828" y="4737908"/>
            <a:ext cx="9573529" cy="1238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IPv6 standards and addressing guidelines were collected from textbooks and online documentation.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Network requirements such as number of subnets and hosts were identified.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like connectivity status and routing information were collected for analysis.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5478FD-3F1E-13EC-EA90-308FAF1268A7}"/>
              </a:ext>
            </a:extLst>
          </p:cNvPr>
          <p:cNvSpPr/>
          <p:nvPr/>
        </p:nvSpPr>
        <p:spPr>
          <a:xfrm>
            <a:off x="1353197" y="1551569"/>
            <a:ext cx="9573529" cy="132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Tools and Frameworks Used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and simulate the IPv6 network topology.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IPv6 Protocol Suite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addressing, subnetting, and routing configuration.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OSPFv3 Routing Protocol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enable and test IPv6 routing between networks.</a:t>
            </a:r>
          </a:p>
          <a:p>
            <a:pPr algn="ctr"/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FFF1AC-F56B-B13E-8EF8-E0D2F2F743E1}"/>
              </a:ext>
            </a:extLst>
          </p:cNvPr>
          <p:cNvSpPr/>
          <p:nvPr/>
        </p:nvSpPr>
        <p:spPr>
          <a:xfrm>
            <a:off x="1363828" y="3144738"/>
            <a:ext cx="9573529" cy="13255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Approach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Study IPv6 addressing, subnetting concepts, and network requirements.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IPv6 address plan and network topology.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test the design using network simulation tools.</a:t>
            </a:r>
            <a:endParaRPr lang="en-US" sz="16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676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E7C9-7F3C-6B79-BC13-AAD3E636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0CBF36-2BEA-21B1-45A8-E7330EDE3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799237" cy="93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6ED949-7F6D-9C1E-3E47-19042A4F2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266" y="143124"/>
            <a:ext cx="1031720" cy="98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441213D-D3A8-AEB9-A335-9786C1E97979}"/>
              </a:ext>
            </a:extLst>
          </p:cNvPr>
          <p:cNvSpPr txBox="1">
            <a:spLocks/>
          </p:cNvSpPr>
          <p:nvPr/>
        </p:nvSpPr>
        <p:spPr>
          <a:xfrm>
            <a:off x="2718179" y="443271"/>
            <a:ext cx="6523159" cy="60691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A78630-EE07-CED1-6EA9-5D1A970EC40B}"/>
              </a:ext>
            </a:extLst>
          </p:cNvPr>
          <p:cNvSpPr/>
          <p:nvPr/>
        </p:nvSpPr>
        <p:spPr>
          <a:xfrm>
            <a:off x="370464" y="1913679"/>
            <a:ext cx="4049596" cy="394311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69B029-72E5-69D3-50D1-5EDCA70EE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" y="2083443"/>
            <a:ext cx="3815165" cy="3657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E6B565-3760-2A6E-F2A6-FB9A0FF0C7AA}"/>
              </a:ext>
            </a:extLst>
          </p:cNvPr>
          <p:cNvSpPr/>
          <p:nvPr/>
        </p:nvSpPr>
        <p:spPr>
          <a:xfrm>
            <a:off x="4852685" y="1565478"/>
            <a:ext cx="6792336" cy="2078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used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/>
              <a:t>IPv6 Protocol:</a:t>
            </a:r>
            <a:r>
              <a:rPr lang="en-US" sz="1600"/>
              <a:t> Used for addressing and subnetting to support scalable and future-ready networks.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/>
              <a:t>OSPFv3 &amp; SLAAC:</a:t>
            </a:r>
            <a:r>
              <a:rPr lang="en-US" sz="1600"/>
              <a:t> OSPFv3 enables IPv6 routing, while SLAAC provides automatic address configuration.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/>
              <a:t>Cisco Packet Tracer:</a:t>
            </a:r>
            <a:r>
              <a:rPr lang="en-US" sz="1600"/>
              <a:t> Used to design, simulate, and test the IPv6 network topology and connectivity.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3BD575-1183-DCA3-10D5-CEF6058BA272}"/>
              </a:ext>
            </a:extLst>
          </p:cNvPr>
          <p:cNvSpPr/>
          <p:nvPr/>
        </p:nvSpPr>
        <p:spPr>
          <a:xfrm>
            <a:off x="5730948" y="3997841"/>
            <a:ext cx="5103629" cy="26262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867F11-1E40-C2F0-5B43-BB95816536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763" y="4138027"/>
            <a:ext cx="4686181" cy="221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97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5CB0-7338-71DF-73EB-5EDC4FCC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63D958-CA85-A730-419A-11342AFBF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5"/>
            <a:ext cx="746186" cy="87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0F386A-DC55-688B-A824-C391869DE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1317" y="143124"/>
            <a:ext cx="978669" cy="93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798298D-9837-30C3-5AC5-6C2AEC0FC126}"/>
              </a:ext>
            </a:extLst>
          </p:cNvPr>
          <p:cNvSpPr txBox="1">
            <a:spLocks/>
          </p:cNvSpPr>
          <p:nvPr/>
        </p:nvSpPr>
        <p:spPr>
          <a:xfrm>
            <a:off x="4888970" y="1018797"/>
            <a:ext cx="390940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32307E-71F2-0E67-52FD-146A9AD0842C}"/>
              </a:ext>
            </a:extLst>
          </p:cNvPr>
          <p:cNvSpPr txBox="1">
            <a:spLocks/>
          </p:cNvSpPr>
          <p:nvPr/>
        </p:nvSpPr>
        <p:spPr>
          <a:xfrm>
            <a:off x="3459330" y="77412"/>
            <a:ext cx="5552735" cy="6698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41BC3-7F5E-D0F0-61F1-8A6F4C84ED1A}"/>
              </a:ext>
            </a:extLst>
          </p:cNvPr>
          <p:cNvSpPr txBox="1"/>
          <p:nvPr/>
        </p:nvSpPr>
        <p:spPr>
          <a:xfrm>
            <a:off x="4213052" y="786641"/>
            <a:ext cx="479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Module 1 : IPv6 Addressing Scheme 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A4E7CEB-C3E8-8157-3D99-01423C1C5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796210"/>
              </p:ext>
            </p:extLst>
          </p:nvPr>
        </p:nvGraphicFramePr>
        <p:xfrm>
          <a:off x="272829" y="2026320"/>
          <a:ext cx="5972632" cy="3996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454">
                  <a:extLst>
                    <a:ext uri="{9D8B030D-6E8A-4147-A177-3AD203B41FA5}">
                      <a16:colId xmlns:a16="http://schemas.microsoft.com/office/drawing/2014/main" val="2916958721"/>
                    </a:ext>
                  </a:extLst>
                </a:gridCol>
                <a:gridCol w="1974523">
                  <a:extLst>
                    <a:ext uri="{9D8B030D-6E8A-4147-A177-3AD203B41FA5}">
                      <a16:colId xmlns:a16="http://schemas.microsoft.com/office/drawing/2014/main" val="4221191363"/>
                    </a:ext>
                  </a:extLst>
                </a:gridCol>
                <a:gridCol w="2002655">
                  <a:extLst>
                    <a:ext uri="{9D8B030D-6E8A-4147-A177-3AD203B41FA5}">
                      <a16:colId xmlns:a16="http://schemas.microsoft.com/office/drawing/2014/main" val="1750013730"/>
                    </a:ext>
                  </a:extLst>
                </a:gridCol>
              </a:tblGrid>
              <a:tr h="238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Type, 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81183"/>
                  </a:ext>
                </a:extLst>
              </a:tr>
              <a:tr h="64403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Cisco Router (IPv6 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different IPv6 subnets and performs routing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705677"/>
                  </a:ext>
                </a:extLst>
              </a:tr>
              <a:tr h="64403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PT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multiple devices within the same IPv6 subnet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711028"/>
                  </a:ext>
                </a:extLst>
              </a:tr>
              <a:tr h="64403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 / 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PT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device for testing IPv6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994979"/>
                  </a:ext>
                </a:extLst>
              </a:tr>
              <a:tr h="64403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Simulator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Cisco Packet Tracer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design and simulate the IPv6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896960"/>
                  </a:ext>
                </a:extLst>
              </a:tr>
              <a:tr h="453213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Copper Straight-through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PCs, switches, and routers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1409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DC19FA3-17EE-1868-A71C-377E6C946478}"/>
              </a:ext>
            </a:extLst>
          </p:cNvPr>
          <p:cNvSpPr txBox="1"/>
          <p:nvPr/>
        </p:nvSpPr>
        <p:spPr>
          <a:xfrm>
            <a:off x="246780" y="1565836"/>
            <a:ext cx="2179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Devices Used 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9B27619-88C4-86D6-605D-52DD5D042C4D}"/>
                  </a:ext>
                </a:extLst>
              </p14:cNvPr>
              <p14:cNvContentPartPr/>
              <p14:nvPr/>
            </p14:nvContentPartPr>
            <p14:xfrm>
              <a:off x="11846149" y="1869604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9B27619-88C4-86D6-605D-52DD5D042C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10149" y="183360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F21137E-9073-7060-F3FC-FEBD34F37E06}"/>
                  </a:ext>
                </a:extLst>
              </p14:cNvPr>
              <p14:cNvContentPartPr/>
              <p14:nvPr/>
            </p14:nvContentPartPr>
            <p14:xfrm>
              <a:off x="11722669" y="1773484"/>
              <a:ext cx="197280" cy="164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F21137E-9073-7060-F3FC-FEBD34F37E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86669" y="1737484"/>
                <a:ext cx="268920" cy="2358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4B7A1CC1-1CB6-ECC9-E334-884935875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3863975"/>
            <a:ext cx="7969250" cy="0"/>
          </a:xfrm>
          <a:prstGeom prst="rect">
            <a:avLst/>
          </a:prstGeom>
          <a:solidFill>
            <a:srgbClr val="EF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558D24F-6ABF-1A9D-08E6-A49BE7BB7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3863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" name="Picture 2" descr="IPv6 Addressing Overview - System Administration Guide: IP Services">
            <a:extLst>
              <a:ext uri="{FF2B5EF4-FFF2-40B4-BE49-F238E27FC236}">
                <a16:creationId xmlns:a16="http://schemas.microsoft.com/office/drawing/2014/main" id="{B6933846-CBAC-B27D-2C39-A28EC1032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718" y="2568645"/>
            <a:ext cx="4784431" cy="256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2FA8C53-D80B-F981-B4F1-C207C7292FA9}"/>
              </a:ext>
            </a:extLst>
          </p:cNvPr>
          <p:cNvSpPr txBox="1"/>
          <p:nvPr/>
        </p:nvSpPr>
        <p:spPr>
          <a:xfrm>
            <a:off x="7248231" y="1859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IPv6 Address Structure Diagram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8CF2FCAC-19A2-C352-8A92-3F73EA3BD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80" y="3296553"/>
            <a:ext cx="778933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02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3B70-856A-7C18-E2B0-5AE43B01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76814C-4527-D6C1-30B2-36DD6DE08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15" y="143124"/>
            <a:ext cx="771586" cy="90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A2F95F-C1E2-1C99-AE48-54172FB9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8405" y="143124"/>
            <a:ext cx="1091581" cy="104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C293A2-9436-CF2E-2891-3A3180F39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803843"/>
              </p:ext>
            </p:extLst>
          </p:nvPr>
        </p:nvGraphicFramePr>
        <p:xfrm>
          <a:off x="270626" y="1562951"/>
          <a:ext cx="11654675" cy="4723547"/>
        </p:xfrm>
        <a:graphic>
          <a:graphicData uri="http://schemas.openxmlformats.org/drawingml/2006/table">
            <a:tbl>
              <a:tblPr/>
              <a:tblGrid>
                <a:gridCol w="2330935">
                  <a:extLst>
                    <a:ext uri="{9D8B030D-6E8A-4147-A177-3AD203B41FA5}">
                      <a16:colId xmlns:a16="http://schemas.microsoft.com/office/drawing/2014/main" val="2558720577"/>
                    </a:ext>
                  </a:extLst>
                </a:gridCol>
                <a:gridCol w="2330935">
                  <a:extLst>
                    <a:ext uri="{9D8B030D-6E8A-4147-A177-3AD203B41FA5}">
                      <a16:colId xmlns:a16="http://schemas.microsoft.com/office/drawing/2014/main" val="3116658131"/>
                    </a:ext>
                  </a:extLst>
                </a:gridCol>
                <a:gridCol w="2330935">
                  <a:extLst>
                    <a:ext uri="{9D8B030D-6E8A-4147-A177-3AD203B41FA5}">
                      <a16:colId xmlns:a16="http://schemas.microsoft.com/office/drawing/2014/main" val="2739469500"/>
                    </a:ext>
                  </a:extLst>
                </a:gridCol>
                <a:gridCol w="2330935">
                  <a:extLst>
                    <a:ext uri="{9D8B030D-6E8A-4147-A177-3AD203B41FA5}">
                      <a16:colId xmlns:a16="http://schemas.microsoft.com/office/drawing/2014/main" val="581183062"/>
                    </a:ext>
                  </a:extLst>
                </a:gridCol>
                <a:gridCol w="2330935">
                  <a:extLst>
                    <a:ext uri="{9D8B030D-6E8A-4147-A177-3AD203B41FA5}">
                      <a16:colId xmlns:a16="http://schemas.microsoft.com/office/drawing/2014/main" val="2201066699"/>
                    </a:ext>
                  </a:extLst>
                </a:gridCol>
              </a:tblGrid>
              <a:tr h="510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Network Segment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IPv6 Prefix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Prefix Length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Assigned Devices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347058"/>
                  </a:ext>
                </a:extLst>
              </a:tr>
              <a:tr h="1276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2001:DB8:1::/64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PCs, Laptops, End Hosts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IPv6 connectivity to end user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173796"/>
                  </a:ext>
                </a:extLst>
              </a:tr>
              <a:tr h="1659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2001:DB8:2::/64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Department Systems, Servers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departmental communication and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483927"/>
                  </a:ext>
                </a:extLst>
              </a:tr>
              <a:tr h="1276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WAN 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2001:DB8:3::/64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Router Interfaces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IPv6 communication between routers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0508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16B041-D702-E3B6-7EA5-8CDB75EC9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688805"/>
              </p:ext>
            </p:extLst>
          </p:nvPr>
        </p:nvGraphicFramePr>
        <p:xfrm>
          <a:off x="274553" y="1628158"/>
          <a:ext cx="11654675" cy="47933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54675">
                  <a:extLst>
                    <a:ext uri="{9D8B030D-6E8A-4147-A177-3AD203B41FA5}">
                      <a16:colId xmlns:a16="http://schemas.microsoft.com/office/drawing/2014/main" val="2770161271"/>
                    </a:ext>
                  </a:extLst>
                </a:gridCol>
              </a:tblGrid>
              <a:tr h="4793395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654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BD457-6E72-D8B5-CA37-91D8598ABE08}"/>
              </a:ext>
            </a:extLst>
          </p:cNvPr>
          <p:cNvCxnSpPr>
            <a:cxnSpLocks/>
          </p:cNvCxnSpPr>
          <p:nvPr/>
        </p:nvCxnSpPr>
        <p:spPr>
          <a:xfrm>
            <a:off x="9567797" y="1628158"/>
            <a:ext cx="0" cy="4793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B1E867-91F6-4420-71A3-BD5215F7C604}"/>
              </a:ext>
            </a:extLst>
          </p:cNvPr>
          <p:cNvCxnSpPr>
            <a:cxnSpLocks/>
          </p:cNvCxnSpPr>
          <p:nvPr/>
        </p:nvCxnSpPr>
        <p:spPr>
          <a:xfrm>
            <a:off x="266699" y="2157956"/>
            <a:ext cx="1165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68380C-190A-ECA4-915D-197AF522BB22}"/>
              </a:ext>
            </a:extLst>
          </p:cNvPr>
          <p:cNvCxnSpPr>
            <a:cxnSpLocks/>
          </p:cNvCxnSpPr>
          <p:nvPr/>
        </p:nvCxnSpPr>
        <p:spPr>
          <a:xfrm>
            <a:off x="266698" y="3300956"/>
            <a:ext cx="116507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7558C6-3D93-A106-B8DE-666B956C6780}"/>
              </a:ext>
            </a:extLst>
          </p:cNvPr>
          <p:cNvCxnSpPr>
            <a:cxnSpLocks/>
          </p:cNvCxnSpPr>
          <p:nvPr/>
        </p:nvCxnSpPr>
        <p:spPr>
          <a:xfrm>
            <a:off x="266698" y="5016080"/>
            <a:ext cx="11650749" cy="22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7B9EA2B-0318-A987-C58A-1DDD966FDC36}"/>
              </a:ext>
            </a:extLst>
          </p:cNvPr>
          <p:cNvSpPr txBox="1"/>
          <p:nvPr/>
        </p:nvSpPr>
        <p:spPr>
          <a:xfrm>
            <a:off x="266698" y="11936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IPv6 Address Planning Table :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3A2246-1CE7-FAA6-54FD-A1FAC1547C28}"/>
              </a:ext>
            </a:extLst>
          </p:cNvPr>
          <p:cNvCxnSpPr>
            <a:cxnSpLocks/>
          </p:cNvCxnSpPr>
          <p:nvPr/>
        </p:nvCxnSpPr>
        <p:spPr>
          <a:xfrm>
            <a:off x="2493897" y="1628158"/>
            <a:ext cx="0" cy="4793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BE3D70-E182-922F-DE44-F3F8E0E79A36}"/>
              </a:ext>
            </a:extLst>
          </p:cNvPr>
          <p:cNvCxnSpPr>
            <a:cxnSpLocks/>
          </p:cNvCxnSpPr>
          <p:nvPr/>
        </p:nvCxnSpPr>
        <p:spPr>
          <a:xfrm>
            <a:off x="6926197" y="1628158"/>
            <a:ext cx="0" cy="4793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556307-5236-A9B2-063F-35C7B10E7271}"/>
              </a:ext>
            </a:extLst>
          </p:cNvPr>
          <p:cNvCxnSpPr>
            <a:cxnSpLocks/>
          </p:cNvCxnSpPr>
          <p:nvPr/>
        </p:nvCxnSpPr>
        <p:spPr>
          <a:xfrm>
            <a:off x="4640197" y="1628158"/>
            <a:ext cx="0" cy="4793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96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31098-27F8-F32F-368A-5A2A3CA3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27492F-5391-F125-15BA-01B0FF576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5"/>
            <a:ext cx="901864" cy="84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8CC892-0D51-B3E8-70C4-90940F158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8122" y="143125"/>
            <a:ext cx="901864" cy="86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33BE022-3DB6-054F-8400-8CE332126245}"/>
              </a:ext>
            </a:extLst>
          </p:cNvPr>
          <p:cNvSpPr txBox="1">
            <a:spLocks/>
          </p:cNvSpPr>
          <p:nvPr/>
        </p:nvSpPr>
        <p:spPr>
          <a:xfrm>
            <a:off x="2777428" y="507141"/>
            <a:ext cx="6637144" cy="47917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>
                <a:latin typeface="Times New Roman"/>
                <a:cs typeface="Times New Roman"/>
              </a:rPr>
              <a:t>Module 2:Subnetting Techniques in IPv6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4FC33-B453-0B06-9F32-598697F62246}"/>
              </a:ext>
            </a:extLst>
          </p:cNvPr>
          <p:cNvSpPr txBox="1"/>
          <p:nvPr/>
        </p:nvSpPr>
        <p:spPr>
          <a:xfrm>
            <a:off x="285694" y="1397480"/>
            <a:ext cx="11620612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Port Assignment: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8F8FEFC-1F7B-63FF-1C37-51F652F5C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867784"/>
              </p:ext>
            </p:extLst>
          </p:nvPr>
        </p:nvGraphicFramePr>
        <p:xfrm>
          <a:off x="336919" y="1781768"/>
          <a:ext cx="5791202" cy="4344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786">
                  <a:extLst>
                    <a:ext uri="{9D8B030D-6E8A-4147-A177-3AD203B41FA5}">
                      <a16:colId xmlns:a16="http://schemas.microsoft.com/office/drawing/2014/main" val="2478909622"/>
                    </a:ext>
                  </a:extLst>
                </a:gridCol>
                <a:gridCol w="1609284">
                  <a:extLst>
                    <a:ext uri="{9D8B030D-6E8A-4147-A177-3AD203B41FA5}">
                      <a16:colId xmlns:a16="http://schemas.microsoft.com/office/drawing/2014/main" val="1259122566"/>
                    </a:ext>
                  </a:extLst>
                </a:gridCol>
                <a:gridCol w="1247264">
                  <a:extLst>
                    <a:ext uri="{9D8B030D-6E8A-4147-A177-3AD203B41FA5}">
                      <a16:colId xmlns:a16="http://schemas.microsoft.com/office/drawing/2014/main" val="619704957"/>
                    </a:ext>
                  </a:extLst>
                </a:gridCol>
                <a:gridCol w="1918868">
                  <a:extLst>
                    <a:ext uri="{9D8B030D-6E8A-4147-A177-3AD203B41FA5}">
                      <a16:colId xmlns:a16="http://schemas.microsoft.com/office/drawing/2014/main" val="180510346"/>
                    </a:ext>
                  </a:extLst>
                </a:gridCol>
              </a:tblGrid>
              <a:tr h="99792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Device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Ports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Connects To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Port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694483"/>
                  </a:ext>
                </a:extLst>
              </a:tr>
              <a:tr h="83674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PC1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FastEthernet0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Switch 0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FastEthernet0/1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858036"/>
                  </a:ext>
                </a:extLst>
              </a:tr>
              <a:tr h="8367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PC2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FastEthernet0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Switch 0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FastEthernet0/1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615063"/>
                  </a:ext>
                </a:extLst>
              </a:tr>
              <a:tr h="8367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PC3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FastEthernet0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Switch1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FastEthernet0/1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181159"/>
                  </a:ext>
                </a:extLst>
              </a:tr>
              <a:tr h="8367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PC4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FastEthernet0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Switch1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FastEthernet0/1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162779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8F263A94-AE5C-04E4-3E89-E7931A1C9513}"/>
              </a:ext>
            </a:extLst>
          </p:cNvPr>
          <p:cNvSpPr txBox="1"/>
          <p:nvPr/>
        </p:nvSpPr>
        <p:spPr>
          <a:xfrm>
            <a:off x="6229540" y="1559649"/>
            <a:ext cx="49685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Switch To Router Connections :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A6A5A4A-A8BD-C0BF-EF08-71B3B4CEC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218389"/>
              </p:ext>
            </p:extLst>
          </p:nvPr>
        </p:nvGraphicFramePr>
        <p:xfrm>
          <a:off x="6384276" y="2041225"/>
          <a:ext cx="5573255" cy="1990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493">
                  <a:extLst>
                    <a:ext uri="{9D8B030D-6E8A-4147-A177-3AD203B41FA5}">
                      <a16:colId xmlns:a16="http://schemas.microsoft.com/office/drawing/2014/main" val="4126200835"/>
                    </a:ext>
                  </a:extLst>
                </a:gridCol>
                <a:gridCol w="1375964">
                  <a:extLst>
                    <a:ext uri="{9D8B030D-6E8A-4147-A177-3AD203B41FA5}">
                      <a16:colId xmlns:a16="http://schemas.microsoft.com/office/drawing/2014/main" val="2097234354"/>
                    </a:ext>
                  </a:extLst>
                </a:gridCol>
                <a:gridCol w="1375964">
                  <a:extLst>
                    <a:ext uri="{9D8B030D-6E8A-4147-A177-3AD203B41FA5}">
                      <a16:colId xmlns:a16="http://schemas.microsoft.com/office/drawing/2014/main" val="3561720201"/>
                    </a:ext>
                  </a:extLst>
                </a:gridCol>
                <a:gridCol w="1446834">
                  <a:extLst>
                    <a:ext uri="{9D8B030D-6E8A-4147-A177-3AD203B41FA5}">
                      <a16:colId xmlns:a16="http://schemas.microsoft.com/office/drawing/2014/main" val="3859144833"/>
                    </a:ext>
                  </a:extLst>
                </a:gridCol>
              </a:tblGrid>
              <a:tr h="50354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Switch</a:t>
                      </a:r>
                      <a:r>
                        <a:rPr lang="en-US">
                          <a:latin typeface="Times New Roman"/>
                        </a:rPr>
                        <a:t>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Connects To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/>
                        </a:rPr>
                        <a:t>Router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036363"/>
                  </a:ext>
                </a:extLst>
              </a:tr>
              <a:tr h="65107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Switch0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/>
                        </a:rPr>
                        <a:t>FastEthernet0/24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Router 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GigabitEthernet0/0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11572"/>
                  </a:ext>
                </a:extLst>
              </a:tr>
              <a:tr h="69930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Switch1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FastEthernet0/24</a:t>
                      </a:r>
                      <a:endParaRPr lang="en-US" sz="1600">
                        <a:latin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Router 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GigabitEthernet0/0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415117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B2DD804A-8FE8-34AA-19E3-7E372EFFD5BF}"/>
              </a:ext>
            </a:extLst>
          </p:cNvPr>
          <p:cNvSpPr txBox="1"/>
          <p:nvPr/>
        </p:nvSpPr>
        <p:spPr>
          <a:xfrm>
            <a:off x="6229540" y="4220441"/>
            <a:ext cx="49775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Router To Router Connection (WAN Link):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B0ED2DFA-7226-838B-C9C5-135272327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800455"/>
              </p:ext>
            </p:extLst>
          </p:nvPr>
        </p:nvGraphicFramePr>
        <p:xfrm>
          <a:off x="6337820" y="4620551"/>
          <a:ext cx="5722257" cy="1506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892">
                  <a:extLst>
                    <a:ext uri="{9D8B030D-6E8A-4147-A177-3AD203B41FA5}">
                      <a16:colId xmlns:a16="http://schemas.microsoft.com/office/drawing/2014/main" val="2246499958"/>
                    </a:ext>
                  </a:extLst>
                </a:gridCol>
                <a:gridCol w="1421122">
                  <a:extLst>
                    <a:ext uri="{9D8B030D-6E8A-4147-A177-3AD203B41FA5}">
                      <a16:colId xmlns:a16="http://schemas.microsoft.com/office/drawing/2014/main" val="4069668504"/>
                    </a:ext>
                  </a:extLst>
                </a:gridCol>
                <a:gridCol w="1556374">
                  <a:extLst>
                    <a:ext uri="{9D8B030D-6E8A-4147-A177-3AD203B41FA5}">
                      <a16:colId xmlns:a16="http://schemas.microsoft.com/office/drawing/2014/main" val="2526999199"/>
                    </a:ext>
                  </a:extLst>
                </a:gridCol>
                <a:gridCol w="1285869">
                  <a:extLst>
                    <a:ext uri="{9D8B030D-6E8A-4147-A177-3AD203B41FA5}">
                      <a16:colId xmlns:a16="http://schemas.microsoft.com/office/drawing/2014/main" val="1582754451"/>
                    </a:ext>
                  </a:extLst>
                </a:gridCol>
              </a:tblGrid>
              <a:tr h="85604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</a:rPr>
                        <a:t>Router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</a:rPr>
                        <a:t>Port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</a:rPr>
                        <a:t>Connects To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</a:rPr>
                        <a:t>Router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47781"/>
                  </a:ext>
                </a:extLst>
              </a:tr>
              <a:tr h="650067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Router0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GigabitEthernet0/1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Router1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</a:rPr>
                        <a:t>GigabitEthernet0/1</a:t>
                      </a:r>
                      <a:endParaRPr lang="en-US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72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28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63DEDD-151A-0568-46A8-D71B282EB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5"/>
            <a:ext cx="901864" cy="84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4A72C0-536E-5913-B776-4AE5A3798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8122" y="143125"/>
            <a:ext cx="901864" cy="86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3A61B12-D339-DA72-6919-85240F4DC0A4}"/>
              </a:ext>
            </a:extLst>
          </p:cNvPr>
          <p:cNvSpPr txBox="1">
            <a:spLocks/>
          </p:cNvSpPr>
          <p:nvPr/>
        </p:nvSpPr>
        <p:spPr>
          <a:xfrm>
            <a:off x="2777428" y="502858"/>
            <a:ext cx="6637144" cy="47917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IPv6 Simulation and Analysis Tools</a:t>
            </a:r>
          </a:p>
          <a:p>
            <a:pPr algn="ctr"/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E46FFD-21C6-1EAC-19A2-48371ADD9750}"/>
              </a:ext>
            </a:extLst>
          </p:cNvPr>
          <p:cNvSpPr/>
          <p:nvPr/>
        </p:nvSpPr>
        <p:spPr>
          <a:xfrm>
            <a:off x="92014" y="1905000"/>
            <a:ext cx="5026086" cy="3632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0409FF-20C0-B159-A560-E42ECD41B1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2106027"/>
            <a:ext cx="4673600" cy="30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0657E2-D36D-F36F-0553-2532C2C412BA}"/>
              </a:ext>
            </a:extLst>
          </p:cNvPr>
          <p:cNvSpPr/>
          <p:nvPr/>
        </p:nvSpPr>
        <p:spPr>
          <a:xfrm>
            <a:off x="5384800" y="1447015"/>
            <a:ext cx="6451600" cy="51240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  <a:endParaRPr lang="en-US" sz="20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IPv6 packet transmission using PDU simulation.</a:t>
            </a:r>
          </a:p>
          <a:p>
            <a:pPr>
              <a:lnSpc>
                <a:spcPct val="150000"/>
              </a:lnSpc>
            </a:pPr>
            <a:r>
              <a:rPr lang="en-US" sz="20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Used 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 (Simulation Mode)</a:t>
            </a:r>
          </a:p>
          <a:p>
            <a:pPr>
              <a:lnSpc>
                <a:spcPct val="150000"/>
              </a:lnSpc>
            </a:pPr>
            <a:r>
              <a:rPr lang="en-US" sz="20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PDU Analysis 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ICMPv6 packet sent from source PC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 passes through switches and routers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 routing decisions verified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Reply confirms successful communication</a:t>
            </a:r>
          </a:p>
          <a:p>
            <a:pPr>
              <a:lnSpc>
                <a:spcPct val="150000"/>
              </a:lnSpc>
            </a:pPr>
            <a:r>
              <a:rPr lang="en-US" sz="20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IPv6 addressing and routing validated</a:t>
            </a:r>
          </a:p>
          <a:p>
            <a:pPr algn="ctr">
              <a:lnSpc>
                <a:spcPct val="150000"/>
              </a:lnSpc>
            </a:pPr>
            <a:endPara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61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D057-DCDA-EAEB-B1CB-DC7DC04D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ABBEF5-C573-CA8C-D35D-EB91347FA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906134" cy="106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29E850-97C5-3314-1F67-907C13582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369" y="143124"/>
            <a:ext cx="1138617" cy="109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274D71-DA72-06F7-7B44-056AA3D6DBE0}"/>
              </a:ext>
            </a:extLst>
          </p:cNvPr>
          <p:cNvSpPr txBox="1">
            <a:spLocks/>
          </p:cNvSpPr>
          <p:nvPr/>
        </p:nvSpPr>
        <p:spPr>
          <a:xfrm>
            <a:off x="4141296" y="367735"/>
            <a:ext cx="390940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16517F-8F16-697B-3F7E-F0807E1CC834}"/>
              </a:ext>
            </a:extLst>
          </p:cNvPr>
          <p:cNvSpPr txBox="1">
            <a:spLocks/>
          </p:cNvSpPr>
          <p:nvPr/>
        </p:nvSpPr>
        <p:spPr>
          <a:xfrm>
            <a:off x="3203391" y="674812"/>
            <a:ext cx="5552735" cy="6698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0FD126-86B8-5B9C-CCAE-D78063FED46A}"/>
              </a:ext>
            </a:extLst>
          </p:cNvPr>
          <p:cNvSpPr/>
          <p:nvPr/>
        </p:nvSpPr>
        <p:spPr>
          <a:xfrm>
            <a:off x="254668" y="2004533"/>
            <a:ext cx="4990432" cy="37185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the Project :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structured IPv6 addressing and subnetting scheme suitable for modern networks.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Simulated the IPv6 network to verify proper address allocation and end-to-end connectivity.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Analyzed the network to ensure scalability, efficient routing, and easy management.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Improved scalability and simplified network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Gained practical knowledge of IPv6 and routing concepts</a:t>
            </a:r>
          </a:p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03E3DE-24AE-0203-A076-5B4081748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117019"/>
              </p:ext>
            </p:extLst>
          </p:nvPr>
        </p:nvGraphicFramePr>
        <p:xfrm>
          <a:off x="5471880" y="2000375"/>
          <a:ext cx="6515961" cy="3718560"/>
        </p:xfrm>
        <a:graphic>
          <a:graphicData uri="http://schemas.openxmlformats.org/drawingml/2006/table">
            <a:tbl>
              <a:tblPr/>
              <a:tblGrid>
                <a:gridCol w="2171987">
                  <a:extLst>
                    <a:ext uri="{9D8B030D-6E8A-4147-A177-3AD203B41FA5}">
                      <a16:colId xmlns:a16="http://schemas.microsoft.com/office/drawing/2014/main" val="2541522475"/>
                    </a:ext>
                  </a:extLst>
                </a:gridCol>
                <a:gridCol w="2171987">
                  <a:extLst>
                    <a:ext uri="{9D8B030D-6E8A-4147-A177-3AD203B41FA5}">
                      <a16:colId xmlns:a16="http://schemas.microsoft.com/office/drawing/2014/main" val="1332299500"/>
                    </a:ext>
                  </a:extLst>
                </a:gridCol>
                <a:gridCol w="2171987">
                  <a:extLst>
                    <a:ext uri="{9D8B030D-6E8A-4147-A177-3AD203B41FA5}">
                      <a16:colId xmlns:a16="http://schemas.microsoft.com/office/drawing/2014/main" val="8368339"/>
                    </a:ext>
                  </a:extLst>
                </a:gridCol>
              </a:tblGrid>
              <a:tr h="8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IPv4 Network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IPv6 Addressing &amp; Subnetting (Our Project)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936610"/>
                  </a:ext>
                </a:extLst>
              </a:tr>
              <a:tr h="56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Limited, address exhaustion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large, virtually unlimited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258934"/>
                  </a:ext>
                </a:extLst>
              </a:tr>
              <a:tr h="56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difficult to expand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easy to add new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22393"/>
                  </a:ext>
                </a:extLst>
              </a:tr>
              <a:tr h="56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Subnetting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and restrictive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flexible (/64 standard)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608015"/>
                  </a:ext>
                </a:extLst>
              </a:tr>
              <a:tr h="56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or DHCP 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Auto-configuration using SLAAC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028106"/>
                  </a:ext>
                </a:extLst>
              </a:tr>
              <a:tr h="56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routing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Hierarchical and efficient routing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73237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482FC8-15D2-C237-348D-2A6C1441C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233951"/>
              </p:ext>
            </p:extLst>
          </p:nvPr>
        </p:nvGraphicFramePr>
        <p:xfrm>
          <a:off x="5359734" y="1996219"/>
          <a:ext cx="6740252" cy="371855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6740252">
                  <a:extLst>
                    <a:ext uri="{9D8B030D-6E8A-4147-A177-3AD203B41FA5}">
                      <a16:colId xmlns:a16="http://schemas.microsoft.com/office/drawing/2014/main" val="60414862"/>
                    </a:ext>
                  </a:extLst>
                </a:gridCol>
              </a:tblGrid>
              <a:tr h="37185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209439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29AB2A-62FA-BFBF-1394-58F923EF89FD}"/>
              </a:ext>
            </a:extLst>
          </p:cNvPr>
          <p:cNvCxnSpPr>
            <a:cxnSpLocks/>
          </p:cNvCxnSpPr>
          <p:nvPr/>
        </p:nvCxnSpPr>
        <p:spPr>
          <a:xfrm>
            <a:off x="5359734" y="2830534"/>
            <a:ext cx="674025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2B18B6-91C9-5C24-5D65-44E05787C4D5}"/>
              </a:ext>
            </a:extLst>
          </p:cNvPr>
          <p:cNvCxnSpPr/>
          <p:nvPr/>
        </p:nvCxnSpPr>
        <p:spPr>
          <a:xfrm>
            <a:off x="7390530" y="2004532"/>
            <a:ext cx="0" cy="37185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67E198-E4E4-24FB-2B76-9DC90CBECE1A}"/>
              </a:ext>
            </a:extLst>
          </p:cNvPr>
          <p:cNvCxnSpPr/>
          <p:nvPr/>
        </p:nvCxnSpPr>
        <p:spPr>
          <a:xfrm>
            <a:off x="9806314" y="2004532"/>
            <a:ext cx="0" cy="37185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12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7F3D-21D7-71D1-6585-EFDB2F4DB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EA1F03-A297-3441-F637-55F375044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1028700" cy="120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C4647E-2584-5D45-404E-EF34DBA9C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803" y="143124"/>
            <a:ext cx="1261183" cy="120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719BC2-A2D5-358B-140F-E1E9DBB8EB49}"/>
              </a:ext>
            </a:extLst>
          </p:cNvPr>
          <p:cNvSpPr txBox="1">
            <a:spLocks/>
          </p:cNvSpPr>
          <p:nvPr/>
        </p:nvSpPr>
        <p:spPr>
          <a:xfrm>
            <a:off x="3133948" y="291913"/>
            <a:ext cx="5945456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B9DCDD-D8A6-69A7-A5CD-5AE69AD8AD20}"/>
              </a:ext>
            </a:extLst>
          </p:cNvPr>
          <p:cNvSpPr/>
          <p:nvPr/>
        </p:nvSpPr>
        <p:spPr>
          <a:xfrm>
            <a:off x="786809" y="1876647"/>
            <a:ext cx="5050464" cy="40084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Issues faced during development :</a:t>
            </a:r>
          </a:p>
          <a:p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IPv6 address format and prefix length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Correct configuration of IPv6 routing (OSPFv3)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Initial connectivity and configuration errors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Tool limitations during simulation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Debugging address and routing issues</a:t>
            </a:r>
          </a:p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36A4A-A5EC-5DE5-D5C1-C0841E1729BB}"/>
              </a:ext>
            </a:extLst>
          </p:cNvPr>
          <p:cNvSpPr/>
          <p:nvPr/>
        </p:nvSpPr>
        <p:spPr>
          <a:xfrm>
            <a:off x="6354728" y="1881963"/>
            <a:ext cx="5050464" cy="40084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Possible constraints :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IPv6 in older devices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for IPv6 addressing and routing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Simulation tools have feature limitations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deployment environment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Network scalability testing constraints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769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BEC975-BDD5-60A5-8D64-ABDA096B5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1028700" cy="120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33F33B-69D2-6856-BBC9-B30E454B5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803" y="143124"/>
            <a:ext cx="1261183" cy="120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D3B3FBD-19DC-AC98-935F-FA200B8EF1BC}"/>
              </a:ext>
            </a:extLst>
          </p:cNvPr>
          <p:cNvSpPr txBox="1">
            <a:spLocks/>
          </p:cNvSpPr>
          <p:nvPr/>
        </p:nvSpPr>
        <p:spPr>
          <a:xfrm>
            <a:off x="4141296" y="556462"/>
            <a:ext cx="390940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04487F-A162-7559-3DBE-2CF1A9537723}"/>
              </a:ext>
            </a:extLst>
          </p:cNvPr>
          <p:cNvSpPr/>
          <p:nvPr/>
        </p:nvSpPr>
        <p:spPr>
          <a:xfrm>
            <a:off x="6290116" y="2171091"/>
            <a:ext cx="5809870" cy="357399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: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IPv6 security mechanisms.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 and cloud-based networking.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Perform real-time deployment and performance analysis.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072805-5255-FFB1-30B2-6ED01A20743D}"/>
              </a:ext>
            </a:extLst>
          </p:cNvPr>
          <p:cNvSpPr/>
          <p:nvPr/>
        </p:nvSpPr>
        <p:spPr>
          <a:xfrm>
            <a:off x="286129" y="2171091"/>
            <a:ext cx="5809870" cy="357399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 or improvements :</a:t>
            </a:r>
          </a:p>
          <a:p>
            <a:pPr algn="ctr"/>
            <a:endParaRPr lang="en-US" sz="16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 such as IPsec can be implemented in the IPv6 network.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Advanced routing protocols and traffic analysis can be added for better performance evaluation.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can be extended to support IoT, cloud, and large-scale enterprise networks.</a:t>
            </a:r>
          </a:p>
          <a:p>
            <a:pPr algn="ctr"/>
            <a:endParaRPr lang="en-US" sz="16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780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88AD-6E39-BB16-346B-527B42CA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647F78-C8BA-3A1B-9300-07DF67AE1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1028700" cy="120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DDEA9A-487A-F600-7D22-A5E8C669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803" y="143124"/>
            <a:ext cx="1261183" cy="120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AE3260-64E9-A67B-1AEF-FAE416C58D70}"/>
              </a:ext>
            </a:extLst>
          </p:cNvPr>
          <p:cNvSpPr txBox="1">
            <a:spLocks/>
          </p:cNvSpPr>
          <p:nvPr/>
        </p:nvSpPr>
        <p:spPr>
          <a:xfrm>
            <a:off x="4141296" y="367735"/>
            <a:ext cx="390940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36905F8D-C43E-F433-D0EC-59FB46FF7DF2}"/>
              </a:ext>
            </a:extLst>
          </p:cNvPr>
          <p:cNvSpPr/>
          <p:nvPr/>
        </p:nvSpPr>
        <p:spPr>
          <a:xfrm>
            <a:off x="606364" y="1998920"/>
            <a:ext cx="5262833" cy="3579895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project :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efficient IPv6 addressing and subnetting scheme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Simulated the IPv6 network to verify connectivity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Analyzed scalability and routing performance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IPv6 supports future network growth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Simplifies network management</a:t>
            </a:r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4647B9A6-B72C-56CB-C280-2E7E0DCF0EA4}"/>
              </a:ext>
            </a:extLst>
          </p:cNvPr>
          <p:cNvSpPr/>
          <p:nvPr/>
        </p:nvSpPr>
        <p:spPr>
          <a:xfrm>
            <a:off x="6322805" y="1998919"/>
            <a:ext cx="5075927" cy="3579895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 :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IPv6 solves the IPv4 address limitation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Subnetting in IPv6 is simple and scalable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Simulation confirms reliable connectivity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IPv6 improves routing efficiency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future networks</a:t>
            </a: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596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41A3-619A-B9DD-0976-B39F312E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7AB7C3-E143-A559-F47A-A3F356D97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" y="143124"/>
            <a:ext cx="911286" cy="106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598963-E5F8-6585-78BF-3DEF1CB89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6217" y="143124"/>
            <a:ext cx="1143769" cy="109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5A5FF02-3012-7C79-13FB-04323455040B}"/>
              </a:ext>
            </a:extLst>
          </p:cNvPr>
          <p:cNvSpPr txBox="1">
            <a:spLocks/>
          </p:cNvSpPr>
          <p:nvPr/>
        </p:nvSpPr>
        <p:spPr>
          <a:xfrm>
            <a:off x="4025055" y="456044"/>
            <a:ext cx="390940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6D5DB-FE59-146D-6C94-8232B72D63D9}"/>
              </a:ext>
            </a:extLst>
          </p:cNvPr>
          <p:cNvSpPr txBox="1"/>
          <p:nvPr/>
        </p:nvSpPr>
        <p:spPr>
          <a:xfrm>
            <a:off x="456229" y="1781607"/>
            <a:ext cx="11279542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Kumar, R. and Shinde, P.R., 2021. Computer Network-IP Address &amp; Subnetting. International Journal of Engineering and Advanced Technology (IJEAT), 5(4), pp.242-246.</a:t>
            </a:r>
          </a:p>
          <a:p>
            <a:pPr marL="342900" indent="-34290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 Coffeen, T., 2014. IPv6 address planning: designing an address plan for the future. " O'Reilly Media, Inc.".</a:t>
            </a:r>
          </a:p>
          <a:p>
            <a:pPr marL="342900" indent="-34290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Amaadid</a:t>
            </a:r>
            <a:r>
              <a:rPr lang="en-US" sz="2000">
                <a:latin typeface="Times New Roman"/>
                <a:cs typeface="Times New Roman"/>
              </a:rPr>
              <a:t>, M., El </a:t>
            </a:r>
            <a:r>
              <a:rPr lang="en-US" sz="2000" err="1">
                <a:latin typeface="Times New Roman"/>
                <a:cs typeface="Times New Roman"/>
              </a:rPr>
              <a:t>Ksimi</a:t>
            </a:r>
            <a:r>
              <a:rPr lang="en-US" sz="2000">
                <a:latin typeface="Times New Roman"/>
                <a:cs typeface="Times New Roman"/>
              </a:rPr>
              <a:t>, A. and </a:t>
            </a:r>
            <a:r>
              <a:rPr lang="en-US" sz="2000" err="1">
                <a:latin typeface="Times New Roman"/>
                <a:cs typeface="Times New Roman"/>
              </a:rPr>
              <a:t>Ettaki</a:t>
            </a:r>
            <a:r>
              <a:rPr lang="en-US" sz="2000">
                <a:latin typeface="Times New Roman"/>
                <a:cs typeface="Times New Roman"/>
              </a:rPr>
              <a:t>, B., 2025. IPv6 security challenges: A comprehensive study of current issues and real case simulation. International Journal of Communication Networks and Information Security, 17(2), pp.18-33. </a:t>
            </a:r>
          </a:p>
          <a:p>
            <a:pPr marL="342900" indent="-34290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 Mohamad Aminuddin, M., 2022. Simulation on IPv6.</a:t>
            </a:r>
          </a:p>
          <a:p>
            <a:pPr marL="342900" indent="-34290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 Jain, N., Payal, A. and Jain, A., 2021. Performance analysis of routing protocols on IPv4 and IPv6 addressing networks. Journal of Web Engineering, 20(5), pp.1389 1428.</a:t>
            </a:r>
          </a:p>
          <a:p>
            <a:pPr marL="342900" indent="-34290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 Tian, Y.C. and Gao, J., 2023. Network addressing architecture. In Network Analysis and Architecture (pp. 161-219). Singapore: Springer Nature Singapore.</a:t>
            </a:r>
          </a:p>
          <a:p>
            <a:pPr marL="342900" indent="-342900">
              <a:buAutoNum type="arabicPeriod"/>
            </a:pPr>
            <a:r>
              <a:rPr lang="en-US" sz="2000">
                <a:latin typeface="Times New Roman"/>
                <a:cs typeface="Times New Roman"/>
              </a:rPr>
              <a:t>Savolainen, T., Soininen, J. and </a:t>
            </a:r>
            <a:r>
              <a:rPr lang="en-US" sz="2000" err="1">
                <a:latin typeface="Times New Roman"/>
                <a:cs typeface="Times New Roman"/>
              </a:rPr>
              <a:t>Silvarajan</a:t>
            </a:r>
            <a:r>
              <a:rPr lang="en-US" sz="2000">
                <a:latin typeface="Times New Roman"/>
                <a:cs typeface="Times New Roman"/>
              </a:rPr>
              <a:t>, B., 2022. IPv6 addressing strategies for IoT. IEEE Sensors Journal, 13(10), pp.3511-3519.</a:t>
            </a:r>
          </a:p>
        </p:txBody>
      </p:sp>
    </p:spTree>
    <p:extLst>
      <p:ext uri="{BB962C8B-B14F-4D97-AF65-F5344CB8AC3E}">
        <p14:creationId xmlns:p14="http://schemas.microsoft.com/office/powerpoint/2010/main" val="3803117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57A70F-02E8-C683-CF66-B982323536B5}"/>
              </a:ext>
            </a:extLst>
          </p:cNvPr>
          <p:cNvSpPr/>
          <p:nvPr/>
        </p:nvSpPr>
        <p:spPr>
          <a:xfrm>
            <a:off x="3477223" y="2967335"/>
            <a:ext cx="523755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</a:t>
            </a:r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U</a:t>
            </a:r>
            <a:endParaRPr 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582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1598</Words>
  <Application>Microsoft Office PowerPoint</Application>
  <PresentationFormat>Widescreen</PresentationFormat>
  <Paragraphs>259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Aptos</vt:lpstr>
      <vt:lpstr>Wingdings</vt:lpstr>
      <vt:lpstr>Roboto</vt:lpstr>
      <vt:lpstr>Times New Roman</vt:lpstr>
      <vt:lpstr>Aptos Display</vt:lpstr>
      <vt:lpstr>Calibri</vt:lpstr>
      <vt:lpstr>Office Theme</vt:lpstr>
      <vt:lpstr>PowerPoint Presentation</vt:lpstr>
      <vt:lpstr> Introduction </vt:lpstr>
      <vt:lpstr>PowerPoint Presentation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Sohail Khan</dc:creator>
  <cp:lastModifiedBy>digital finance</cp:lastModifiedBy>
  <cp:revision>2</cp:revision>
  <dcterms:created xsi:type="dcterms:W3CDTF">2025-12-08T04:25:36Z</dcterms:created>
  <dcterms:modified xsi:type="dcterms:W3CDTF">2025-12-24T07:27:12Z</dcterms:modified>
</cp:coreProperties>
</file>